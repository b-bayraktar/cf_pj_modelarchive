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5" r:id="rId3"/>
    <p:sldId id="262" r:id="rId4"/>
    <p:sldId id="261" r:id="rId5"/>
    <p:sldId id="258" r:id="rId6"/>
    <p:sldId id="260" r:id="rId7"/>
    <p:sldId id="263" r:id="rId8"/>
    <p:sldId id="259" r:id="rId9"/>
    <p:sldId id="266" r:id="rId10"/>
    <p:sldId id="264" r:id="rId11"/>
    <p:sldId id="267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879" autoAdjust="0"/>
  </p:normalViewPr>
  <p:slideViewPr>
    <p:cSldViewPr snapToGrid="0">
      <p:cViewPr varScale="1">
        <p:scale>
          <a:sx n="97" d="100"/>
          <a:sy n="97" d="100"/>
        </p:scale>
        <p:origin x="107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E53B02-D4B6-70C2-7C4B-F05C7DB9A6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CAA495-995B-2805-ABFE-FF07883109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0425B4-1797-8734-713C-89BDCE77F2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5FBA207-6DC3-FC42-C074-6A130B37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07A104-2AC0-0C4A-7ACA-246F27965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776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900AC-43E4-D736-5333-DE490DA32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34A61F-A1D1-976B-6815-AE5E06A770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32F45EF-F3D8-4AF5-FC8E-C40D7F3501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6A44C-FB77-1177-B6C5-D1545EE231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6E89C2-F9A8-42F2-4752-1939F8E10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8048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348F2D-C00E-4A30-86FD-21559E96C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D84D16-85FD-296F-7D2D-BD3E8CB156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C3948D-5CDE-EDC0-6F06-EE852346B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32A44A-2C3A-FD5C-40B1-66EC65772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D7F46-6642-DD77-3E49-34BB22162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6236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51696-2B80-BE85-DE35-D163994BB1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BAB9C3-8CC3-38C0-A89C-98A385F649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BD86D-CD9F-346A-2DD0-AE3AE74F0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2F0E10-6D56-2524-BDA7-EC674AE88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7F9ECA-E2EF-2A57-773C-4A55AA1A39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A45FC3-D874-A282-233C-122094D9D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89185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E17819-FF58-10CC-3744-FE95413BA2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6BB33-AA32-783B-A298-4853E7F6D3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9E437D-AB1A-7F54-B869-87362E852C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19F52F-49F6-F9E7-A4C9-1E89452FA2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FB27B39-AC9A-BCFC-F4C6-C068242CC2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0474FB4-2C5C-6CFC-530D-D0CA31BF72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C4AE94-0358-22FA-B8B0-17EAB3AA4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614D32-D569-4C3E-1F0E-3FF4932BD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8792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51C9F-0F7A-B924-A487-48A9549751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A83422F-9F46-08BB-C11A-22CC013B0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238C05A-7BC4-FEB0-8DA7-34B55981C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A02097-F552-CAC3-7CE6-CE18CB6B4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4740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9E08E6C-4099-DBCC-7721-946049E57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A22BF8-F02B-E75C-BC84-0DA98D9D41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215CD9-BA22-C8B8-2764-2E0E20504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16777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9B667C-5115-6885-5348-C5743E62ED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1DCF42-13EA-FD4F-AE18-AB4A22B817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1EA6AF3-05E7-D705-3E7A-8628C30703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072F823-F381-8E96-849B-D62E3381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70AF2B-22F8-25FD-B733-9224D7C3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34AFD8-2E1B-23D2-E1D4-EBBAC5E3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12685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F1CF60-B67B-239E-D533-525FB1AAC9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5EAAA7-9629-379F-C61E-CB8E0BC8BC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05C8A7-175B-7433-A545-7C88A924FF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56A8D5-60D5-19DF-2752-ECC96ECD4C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F8D4E5-71E0-FA34-CDCD-C888457A1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84A921-76FE-3ED9-D68D-BB9A16627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30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89F26B-64BC-4F80-A876-1675FF285B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324491A-CBE5-F820-55FF-EA90FCF068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4D095C-82D7-3631-C6EE-71092B44E5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84B9E5-A9A7-019B-DBBD-69D5152795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CAC02D-717D-8CB0-3F99-C510DDB2D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11472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681C72-5AC5-3962-51B6-4B372D1BFB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6A6FAB-A78A-6465-E998-14AB3FA2CB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DD11B-E2F5-52C4-4E79-47B5D59926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BB5C5F-5B76-33DE-BF1F-EC1638B4F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496181-64C3-7D94-F041-2E4789A73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4330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FCC0F3D-D6C7-531C-B98F-359E5B7362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89A283-4515-106D-C247-6608F92137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F2F01B-DD96-9024-199B-C4E5B6EE22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64D0A-16E6-4E65-92DC-9C23A5755BF0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7634A2-9011-AB7D-486A-855174DECFD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F34F73-6199-3A25-BD69-F8EAC8F5A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64B52DF-2C2E-4286-AA2E-A5F173A44A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77472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lowchart: Decision 8">
            <a:extLst>
              <a:ext uri="{FF2B5EF4-FFF2-40B4-BE49-F238E27FC236}">
                <a16:creationId xmlns:a16="http://schemas.microsoft.com/office/drawing/2014/main" id="{8F253A12-2310-BAF3-C793-1FD5EE1214FE}"/>
              </a:ext>
            </a:extLst>
          </p:cNvPr>
          <p:cNvSpPr/>
          <p:nvPr/>
        </p:nvSpPr>
        <p:spPr>
          <a:xfrm>
            <a:off x="1401934" y="1989146"/>
            <a:ext cx="2207995" cy="12567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MF &lt; </a:t>
            </a:r>
            <a:r>
              <a:rPr lang="en-US" sz="1400" dirty="0" err="1"/>
              <a:t>Dflow</a:t>
            </a:r>
            <a:r>
              <a:rPr lang="en-US" sz="1400" dirty="0"/>
              <a:t> start date &amp; SWMM start date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6FDC753-B5F8-E8F4-245F-43AA624584AA}"/>
              </a:ext>
            </a:extLst>
          </p:cNvPr>
          <p:cNvCxnSpPr/>
          <p:nvPr/>
        </p:nvCxnSpPr>
        <p:spPr>
          <a:xfrm>
            <a:off x="2476500" y="324590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B20C276C-A751-F685-893B-E0341E6B32F6}"/>
              </a:ext>
            </a:extLst>
          </p:cNvPr>
          <p:cNvSpPr/>
          <p:nvPr/>
        </p:nvSpPr>
        <p:spPr>
          <a:xfrm>
            <a:off x="1924050" y="3871912"/>
            <a:ext cx="1314404" cy="314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MF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B8B864C-92E1-E109-3894-66B6B5FF0306}"/>
              </a:ext>
            </a:extLst>
          </p:cNvPr>
          <p:cNvCxnSpPr>
            <a:cxnSpLocks/>
          </p:cNvCxnSpPr>
          <p:nvPr/>
        </p:nvCxnSpPr>
        <p:spPr>
          <a:xfrm>
            <a:off x="3609929" y="2617525"/>
            <a:ext cx="6762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8" name="Flowchart: Decision 17">
            <a:extLst>
              <a:ext uri="{FF2B5EF4-FFF2-40B4-BE49-F238E27FC236}">
                <a16:creationId xmlns:a16="http://schemas.microsoft.com/office/drawing/2014/main" id="{FECFC15F-2FCE-F253-4F5E-AB0D101C72C0}"/>
              </a:ext>
            </a:extLst>
          </p:cNvPr>
          <p:cNvSpPr/>
          <p:nvPr/>
        </p:nvSpPr>
        <p:spPr>
          <a:xfrm>
            <a:off x="4286203" y="1989146"/>
            <a:ext cx="2207995" cy="12567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MF &lt; </a:t>
            </a:r>
            <a:r>
              <a:rPr lang="en-US" sz="1400" dirty="0" err="1"/>
              <a:t>Dflow</a:t>
            </a:r>
            <a:endParaRPr lang="en-US" sz="1400" dirty="0"/>
          </a:p>
          <a:p>
            <a:pPr algn="ctr"/>
            <a:r>
              <a:rPr lang="en-US" sz="1400" dirty="0"/>
              <a:t>&amp;</a:t>
            </a:r>
          </a:p>
          <a:p>
            <a:pPr algn="ctr"/>
            <a:r>
              <a:rPr lang="en-US" sz="1400" dirty="0"/>
              <a:t>MF &gt;= SWMM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2C2CAD3-837D-F10E-33C4-8036C1AAA07D}"/>
              </a:ext>
            </a:extLst>
          </p:cNvPr>
          <p:cNvCxnSpPr/>
          <p:nvPr/>
        </p:nvCxnSpPr>
        <p:spPr>
          <a:xfrm>
            <a:off x="5390201" y="3245905"/>
            <a:ext cx="0" cy="6096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A2EAB26D-4087-156B-CF17-6E393C46870C}"/>
              </a:ext>
            </a:extLst>
          </p:cNvPr>
          <p:cNvSpPr/>
          <p:nvPr/>
        </p:nvSpPr>
        <p:spPr>
          <a:xfrm>
            <a:off x="4732998" y="4029074"/>
            <a:ext cx="1686852" cy="314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Run MF and SWMM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2A2E5E2-ADFD-B7B7-7717-4F10BF045933}"/>
              </a:ext>
            </a:extLst>
          </p:cNvPr>
          <p:cNvCxnSpPr>
            <a:cxnSpLocks/>
          </p:cNvCxnSpPr>
          <p:nvPr/>
        </p:nvCxnSpPr>
        <p:spPr>
          <a:xfrm>
            <a:off x="6494198" y="2617525"/>
            <a:ext cx="676275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4" name="Flowchart: Decision 23">
            <a:extLst>
              <a:ext uri="{FF2B5EF4-FFF2-40B4-BE49-F238E27FC236}">
                <a16:creationId xmlns:a16="http://schemas.microsoft.com/office/drawing/2014/main" id="{375A7664-F64C-53FC-4339-4731F4FEE9DA}"/>
              </a:ext>
            </a:extLst>
          </p:cNvPr>
          <p:cNvSpPr/>
          <p:nvPr/>
        </p:nvSpPr>
        <p:spPr>
          <a:xfrm>
            <a:off x="7199904" y="1989145"/>
            <a:ext cx="2207995" cy="1256759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MF &gt;= </a:t>
            </a:r>
            <a:r>
              <a:rPr lang="en-US" sz="1400" dirty="0" err="1"/>
              <a:t>Dflow</a:t>
            </a:r>
            <a:endParaRPr lang="en-US" sz="1400" dirty="0"/>
          </a:p>
          <a:p>
            <a:pPr algn="ctr"/>
            <a:r>
              <a:rPr lang="en-US" sz="1400" dirty="0"/>
              <a:t>&amp;</a:t>
            </a:r>
          </a:p>
          <a:p>
            <a:pPr algn="ctr"/>
            <a:r>
              <a:rPr lang="en-US" sz="1400" dirty="0"/>
              <a:t>MF &gt;= SWMM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A4C0C8D0-C7DE-1728-5EB0-791AD1A81221}"/>
              </a:ext>
            </a:extLst>
          </p:cNvPr>
          <p:cNvSpPr/>
          <p:nvPr/>
        </p:nvSpPr>
        <p:spPr>
          <a:xfrm>
            <a:off x="7460474" y="4005260"/>
            <a:ext cx="2807476" cy="31432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Couple MF + </a:t>
            </a:r>
            <a:r>
              <a:rPr lang="en-US" sz="1400"/>
              <a:t>SWMM + </a:t>
            </a:r>
            <a:r>
              <a:rPr lang="en-US" sz="1400" dirty="0"/>
              <a:t>DFLOW</a:t>
            </a:r>
          </a:p>
        </p:txBody>
      </p:sp>
    </p:spTree>
    <p:extLst>
      <p:ext uri="{BB962C8B-B14F-4D97-AF65-F5344CB8AC3E}">
        <p14:creationId xmlns:p14="http://schemas.microsoft.com/office/powerpoint/2010/main" val="17107750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B13B58-F1C9-B2CF-6903-C7C34A355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1975" y="701675"/>
            <a:ext cx="10515600" cy="1163701"/>
          </a:xfrm>
        </p:spPr>
        <p:txBody>
          <a:bodyPr/>
          <a:lstStyle/>
          <a:p>
            <a:r>
              <a:rPr lang="en-US" dirty="0"/>
              <a:t>Review preliminary results</a:t>
            </a:r>
          </a:p>
          <a:p>
            <a:r>
              <a:rPr lang="en-US" dirty="0"/>
              <a:t>Second eyes on 3-way couple timing</a:t>
            </a:r>
          </a:p>
        </p:txBody>
      </p:sp>
    </p:spTree>
    <p:extLst>
      <p:ext uri="{BB962C8B-B14F-4D97-AF65-F5344CB8AC3E}">
        <p14:creationId xmlns:p14="http://schemas.microsoft.com/office/powerpoint/2010/main" val="6040045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7FDB131-D886-8194-386D-2E73F46FAE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3" y="1316736"/>
            <a:ext cx="8370646" cy="3922776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F33851A-E76F-2089-4C34-82196080B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0107" y="137477"/>
            <a:ext cx="7415717" cy="795211"/>
          </a:xfrm>
        </p:spPr>
        <p:txBody>
          <a:bodyPr>
            <a:normAutofit/>
          </a:bodyPr>
          <a:lstStyle/>
          <a:p>
            <a:r>
              <a:rPr lang="en-US" sz="3000" dirty="0"/>
              <a:t>Email from Mahla about unsaturated flow...      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786840-1DBD-07B0-8EEA-48FC720BB13A}"/>
              </a:ext>
            </a:extLst>
          </p:cNvPr>
          <p:cNvSpPr txBox="1"/>
          <p:nvPr/>
        </p:nvSpPr>
        <p:spPr>
          <a:xfrm>
            <a:off x="8690753" y="1316736"/>
            <a:ext cx="3400728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Her assumptions are technically true.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Too many parameters … adds complexity we didn’t have time to address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This would be more of a concern in the middle of the island as opposed to the coastal setting of PJ/GP.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Sensitivity analysis by reducing leakage.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Add this info to limitations section?</a:t>
            </a:r>
          </a:p>
        </p:txBody>
      </p:sp>
    </p:spTree>
    <p:extLst>
      <p:ext uri="{BB962C8B-B14F-4D97-AF65-F5344CB8AC3E}">
        <p14:creationId xmlns:p14="http://schemas.microsoft.com/office/powerpoint/2010/main" val="29978513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76BC4-486F-9432-50C6-8F8F3D15A4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" y="89020"/>
            <a:ext cx="9276578" cy="4951604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4C1CA06-E9AE-B01F-4F14-914AF8B33725}"/>
              </a:ext>
            </a:extLst>
          </p:cNvPr>
          <p:cNvCxnSpPr>
            <a:cxnSpLocks/>
          </p:cNvCxnSpPr>
          <p:nvPr/>
        </p:nvCxnSpPr>
        <p:spPr>
          <a:xfrm flipH="1">
            <a:off x="8748251" y="3257550"/>
            <a:ext cx="5290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BD23B6C-6246-3F1B-BA54-DD72F2693D27}"/>
              </a:ext>
            </a:extLst>
          </p:cNvPr>
          <p:cNvCxnSpPr>
            <a:cxnSpLocks/>
          </p:cNvCxnSpPr>
          <p:nvPr/>
        </p:nvCxnSpPr>
        <p:spPr>
          <a:xfrm flipH="1">
            <a:off x="8748251" y="2409825"/>
            <a:ext cx="52909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FC9EA1A-10B5-F2D6-F7BC-8DCA25EFF7D4}"/>
              </a:ext>
            </a:extLst>
          </p:cNvPr>
          <p:cNvSpPr txBox="1"/>
          <p:nvPr/>
        </p:nvSpPr>
        <p:spPr>
          <a:xfrm>
            <a:off x="9277350" y="3072884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CHD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FA3659F-AF33-FBFE-00F3-4BB16F2DA038}"/>
              </a:ext>
            </a:extLst>
          </p:cNvPr>
          <p:cNvSpPr txBox="1"/>
          <p:nvPr/>
        </p:nvSpPr>
        <p:spPr>
          <a:xfrm>
            <a:off x="9277350" y="2195097"/>
            <a:ext cx="68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DRN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3991A1B-965D-A360-E53E-5E997D108CC7}"/>
              </a:ext>
            </a:extLst>
          </p:cNvPr>
          <p:cNvSpPr txBox="1"/>
          <p:nvPr/>
        </p:nvSpPr>
        <p:spPr>
          <a:xfrm>
            <a:off x="7022592" y="5239074"/>
            <a:ext cx="494154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Have </a:t>
            </a:r>
            <a:r>
              <a:rPr lang="en-US" dirty="0" err="1"/>
              <a:t>dflow</a:t>
            </a:r>
            <a:r>
              <a:rPr lang="en-US" dirty="0"/>
              <a:t> water levels been spot checked against NOAA? (Liv)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2010 – something about wind, Liv is looking at this.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2018- in progress</a:t>
            </a:r>
          </a:p>
        </p:txBody>
      </p:sp>
    </p:spTree>
    <p:extLst>
      <p:ext uri="{BB962C8B-B14F-4D97-AF65-F5344CB8AC3E}">
        <p14:creationId xmlns:p14="http://schemas.microsoft.com/office/powerpoint/2010/main" val="24411399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>
            <a:extLst>
              <a:ext uri="{FF2B5EF4-FFF2-40B4-BE49-F238E27FC236}">
                <a16:creationId xmlns:a16="http://schemas.microsoft.com/office/drawing/2014/main" id="{BD11C15F-10C7-121E-C0DF-D73F9BB0B1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87" y="1181281"/>
            <a:ext cx="9693533" cy="5144086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56744F6-8480-2FF3-8CD8-E4F0DBE0D545}"/>
              </a:ext>
            </a:extLst>
          </p:cNvPr>
          <p:cNvSpPr txBox="1">
            <a:spLocks/>
          </p:cNvSpPr>
          <p:nvPr/>
        </p:nvSpPr>
        <p:spPr>
          <a:xfrm>
            <a:off x="1566672" y="0"/>
            <a:ext cx="726757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MF + D-Flow+ SWMM (daily)       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6F9EBA1-F34D-E884-662B-89A9087D3D0A}"/>
              </a:ext>
            </a:extLst>
          </p:cNvPr>
          <p:cNvSpPr txBox="1"/>
          <p:nvPr/>
        </p:nvSpPr>
        <p:spPr>
          <a:xfrm>
            <a:off x="9096330" y="2149490"/>
            <a:ext cx="300321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Heads at select locations within the SWMM well network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SWMM coupling does not significantly change heads </a:t>
            </a:r>
          </a:p>
        </p:txBody>
      </p:sp>
    </p:spTree>
    <p:extLst>
      <p:ext uri="{BB962C8B-B14F-4D97-AF65-F5344CB8AC3E}">
        <p14:creationId xmlns:p14="http://schemas.microsoft.com/office/powerpoint/2010/main" val="33777565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19096C2-7EF7-316B-7543-DAC693830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8694536" cy="521672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D84A3D4-EDC1-0311-2024-FC77CDA7961C}"/>
              </a:ext>
            </a:extLst>
          </p:cNvPr>
          <p:cNvSpPr txBox="1"/>
          <p:nvPr/>
        </p:nvSpPr>
        <p:spPr>
          <a:xfrm>
            <a:off x="1805412" y="4844239"/>
            <a:ext cx="373585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SWMM adding water to mf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SWMM is adding the most water to MF “upstream”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Plot </a:t>
            </a:r>
            <a:r>
              <a:rPr lang="en-US" dirty="0" err="1">
                <a:highlight>
                  <a:srgbClr val="FFFF00"/>
                </a:highlight>
              </a:rPr>
              <a:t>downsewer</a:t>
            </a:r>
            <a:r>
              <a:rPr lang="en-US" dirty="0">
                <a:highlight>
                  <a:srgbClr val="FFFF00"/>
                </a:highlight>
              </a:rPr>
              <a:t> time series after units have been fixed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DD67B82-9A1E-6CFD-9F8B-DD8F6A5A92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5778" y="694073"/>
            <a:ext cx="3097631" cy="2435066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6184535E-00F4-7042-2562-3919E55BB5B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925384" y="31292"/>
            <a:ext cx="545327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3500" dirty="0"/>
              <a:t>MF + D-Flow+ SWMM (daily)</a:t>
            </a:r>
            <a:br>
              <a:rPr lang="en-US" sz="3500" dirty="0"/>
            </a:br>
            <a:r>
              <a:rPr lang="en-US" sz="2500" dirty="0"/>
              <a:t>Well Observations (flux)        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4C9F3E3-047F-7FEC-7942-A6090B3EED5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53275" y="3224314"/>
            <a:ext cx="4406374" cy="337425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874DEB4-9BB6-7CC9-B355-CCBCADA115B4}"/>
              </a:ext>
            </a:extLst>
          </p:cNvPr>
          <p:cNvSpPr/>
          <p:nvPr/>
        </p:nvSpPr>
        <p:spPr>
          <a:xfrm>
            <a:off x="1457325" y="1724025"/>
            <a:ext cx="657225" cy="552450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4268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8CBDF0E-9239-DD85-C18E-3DE3E46126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9265" y="275675"/>
            <a:ext cx="4464874" cy="603567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858FDB6-F29C-0021-E887-47C08D66F7CA}"/>
              </a:ext>
            </a:extLst>
          </p:cNvPr>
          <p:cNvSpPr txBox="1"/>
          <p:nvPr/>
        </p:nvSpPr>
        <p:spPr>
          <a:xfrm>
            <a:off x="6096000" y="2415209"/>
            <a:ext cx="2968139" cy="1659834"/>
          </a:xfrm>
          <a:prstGeom prst="rect">
            <a:avLst/>
          </a:prstGeom>
          <a:noFill/>
          <a:ln w="1905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50B664D1-F57D-F6B0-F37D-742D400A1C28}"/>
              </a:ext>
            </a:extLst>
          </p:cNvPr>
          <p:cNvCxnSpPr/>
          <p:nvPr/>
        </p:nvCxnSpPr>
        <p:spPr>
          <a:xfrm flipH="1">
            <a:off x="9064139" y="2581275"/>
            <a:ext cx="394186" cy="133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1987C660-F526-BBB6-CCF2-23583C5074CE}"/>
              </a:ext>
            </a:extLst>
          </p:cNvPr>
          <p:cNvSpPr txBox="1"/>
          <p:nvPr/>
        </p:nvSpPr>
        <p:spPr>
          <a:xfrm>
            <a:off x="9610344" y="2343150"/>
            <a:ext cx="242193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Ft^3/day *</a:t>
            </a:r>
          </a:p>
          <a:p>
            <a:r>
              <a:rPr lang="en-US" dirty="0"/>
              <a:t>(15 [mins]/1440 [mins/day])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D2D9D272-84BF-E6B0-7EEC-289CBF7C82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322" y="4289424"/>
            <a:ext cx="3160905" cy="23056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6C0A2D1-9725-E7A9-05FA-A1E0AB282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644" y="220238"/>
            <a:ext cx="3160905" cy="2305601"/>
          </a:xfrm>
        </p:spPr>
        <p:txBody>
          <a:bodyPr>
            <a:normAutofit/>
          </a:bodyPr>
          <a:lstStyle/>
          <a:p>
            <a:r>
              <a:rPr lang="en-US" sz="2400" dirty="0">
                <a:highlight>
                  <a:srgbClr val="FFFF00"/>
                </a:highlight>
              </a:rPr>
              <a:t>Do I need to divide sum by the coupling interval (</a:t>
            </a:r>
            <a:r>
              <a:rPr lang="en-US" sz="2400" dirty="0" err="1">
                <a:highlight>
                  <a:srgbClr val="FFFF00"/>
                </a:highlight>
              </a:rPr>
              <a:t>eg.</a:t>
            </a:r>
            <a:r>
              <a:rPr lang="en-US" sz="2400" dirty="0">
                <a:highlight>
                  <a:srgbClr val="FFFF00"/>
                </a:highlight>
              </a:rPr>
              <a:t> Divide by 96 for 15min coupling interval)?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65D6860-C528-D39E-CBEA-35A1D3241E7F}"/>
              </a:ext>
            </a:extLst>
          </p:cNvPr>
          <p:cNvSpPr/>
          <p:nvPr/>
        </p:nvSpPr>
        <p:spPr>
          <a:xfrm>
            <a:off x="4599265" y="6048375"/>
            <a:ext cx="4464874" cy="262974"/>
          </a:xfrm>
          <a:prstGeom prst="rect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CC0A0F2-27A1-314B-1B57-8AB71FF1B983}"/>
              </a:ext>
            </a:extLst>
          </p:cNvPr>
          <p:cNvCxnSpPr/>
          <p:nvPr/>
        </p:nvCxnSpPr>
        <p:spPr>
          <a:xfrm flipH="1">
            <a:off x="9064139" y="6048375"/>
            <a:ext cx="394186" cy="13335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F3D9029-E2DB-DD27-98C7-DFF8498CE9E8}"/>
              </a:ext>
            </a:extLst>
          </p:cNvPr>
          <p:cNvSpPr txBox="1"/>
          <p:nvPr/>
        </p:nvSpPr>
        <p:spPr>
          <a:xfrm>
            <a:off x="9686925" y="5486400"/>
            <a:ext cx="4953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?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EFA72A-85E2-4214-30EA-82994B0D1663}"/>
              </a:ext>
            </a:extLst>
          </p:cNvPr>
          <p:cNvSpPr/>
          <p:nvPr/>
        </p:nvSpPr>
        <p:spPr>
          <a:xfrm>
            <a:off x="4599265" y="2343150"/>
            <a:ext cx="1496735" cy="1731893"/>
          </a:xfrm>
          <a:prstGeom prst="rect">
            <a:avLst/>
          </a:prstGeom>
          <a:noFill/>
          <a:ln w="38100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F6789AC7-79FF-12E1-3C7E-BE157CF1544D}"/>
              </a:ext>
            </a:extLst>
          </p:cNvPr>
          <p:cNvCxnSpPr>
            <a:cxnSpLocks/>
          </p:cNvCxnSpPr>
          <p:nvPr/>
        </p:nvCxnSpPr>
        <p:spPr>
          <a:xfrm>
            <a:off x="4125258" y="3075390"/>
            <a:ext cx="463753" cy="13370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C90741E-478B-C7DA-532A-FC4D63FD5C56}"/>
              </a:ext>
            </a:extLst>
          </p:cNvPr>
          <p:cNvSpPr txBox="1"/>
          <p:nvPr/>
        </p:nvSpPr>
        <p:spPr>
          <a:xfrm>
            <a:off x="2348481" y="2875794"/>
            <a:ext cx="185659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15-min coupling interval</a:t>
            </a:r>
          </a:p>
        </p:txBody>
      </p:sp>
    </p:spTree>
    <p:extLst>
      <p:ext uri="{BB962C8B-B14F-4D97-AF65-F5344CB8AC3E}">
        <p14:creationId xmlns:p14="http://schemas.microsoft.com/office/powerpoint/2010/main" val="21110827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7A8EE-164B-141B-6792-7AA780FE3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9075" y="177560"/>
            <a:ext cx="4631717" cy="740736"/>
          </a:xfrm>
        </p:spPr>
        <p:txBody>
          <a:bodyPr>
            <a:noAutofit/>
          </a:bodyPr>
          <a:lstStyle/>
          <a:p>
            <a:r>
              <a:rPr lang="en-US" sz="3000" dirty="0"/>
              <a:t>Mill Creek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ED9C54-3B8A-1B17-3A53-A4178131FE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909663"/>
            <a:ext cx="4006651" cy="2519338"/>
          </a:xfrm>
        </p:spPr>
        <p:txBody>
          <a:bodyPr>
            <a:normAutofit lnSpcReduction="10000"/>
          </a:bodyPr>
          <a:lstStyle/>
          <a:p>
            <a:r>
              <a:rPr lang="en-US" sz="2000" dirty="0"/>
              <a:t>Drain cells are large</a:t>
            </a:r>
          </a:p>
          <a:p>
            <a:r>
              <a:rPr lang="en-US" sz="2000" dirty="0"/>
              <a:t>Does it need to be represented in MF?</a:t>
            </a:r>
          </a:p>
          <a:p>
            <a:pPr lvl="1"/>
            <a:r>
              <a:rPr lang="en-US" sz="2000" dirty="0">
                <a:highlight>
                  <a:srgbClr val="FFFF00"/>
                </a:highlight>
              </a:rPr>
              <a:t>Mill creek in SWMM is an open channel</a:t>
            </a:r>
          </a:p>
          <a:p>
            <a:pPr lvl="1"/>
            <a:r>
              <a:rPr lang="en-US" sz="2000" dirty="0"/>
              <a:t>I send VP location of Mill Creek gage. They will return flow rates and water depth </a:t>
            </a:r>
          </a:p>
          <a:p>
            <a:pPr lvl="1"/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BB20C7C-D2C6-5E4B-B69D-8359F5FF4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8374" y="68870"/>
            <a:ext cx="7723027" cy="587946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6EF6EA30-3AA9-D04C-F80F-049DB1EEEEBF}"/>
              </a:ext>
            </a:extLst>
          </p:cNvPr>
          <p:cNvSpPr txBox="1"/>
          <p:nvPr/>
        </p:nvSpPr>
        <p:spPr>
          <a:xfrm>
            <a:off x="219075" y="3555495"/>
            <a:ext cx="45175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Solid Line(s): </a:t>
            </a:r>
            <a:r>
              <a:rPr lang="en-US" dirty="0"/>
              <a:t>Coupled models with and without </a:t>
            </a:r>
            <a:r>
              <a:rPr lang="en-US" dirty="0" err="1"/>
              <a:t>swmm</a:t>
            </a:r>
            <a:endParaRPr lang="en-US" dirty="0"/>
          </a:p>
          <a:p>
            <a:r>
              <a:rPr lang="en-US" b="1" dirty="0"/>
              <a:t>Dotted lines: </a:t>
            </a:r>
            <a:r>
              <a:rPr lang="en-US" dirty="0" err="1"/>
              <a:t>Modflow</a:t>
            </a:r>
            <a:r>
              <a:rPr lang="en-US" dirty="0"/>
              <a:t> Only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Only the lower reach of Mill Creek is affected by coupling with tides.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Coupling with tides results in shorter lag time.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SWMM coupling does not impact drain discharge in a significant way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34770E-80D3-6392-1B39-C0BD835D174F}"/>
              </a:ext>
            </a:extLst>
          </p:cNvPr>
          <p:cNvSpPr txBox="1"/>
          <p:nvPr/>
        </p:nvSpPr>
        <p:spPr>
          <a:xfrm>
            <a:off x="8869680" y="4864608"/>
            <a:ext cx="2487168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Plot the fluxes of </a:t>
            </a:r>
            <a:r>
              <a:rPr lang="en-US" dirty="0" err="1">
                <a:highlight>
                  <a:srgbClr val="00FF00"/>
                </a:highlight>
              </a:rPr>
              <a:t>swmm</a:t>
            </a:r>
            <a:r>
              <a:rPr lang="en-US" dirty="0">
                <a:highlight>
                  <a:srgbClr val="00FF00"/>
                </a:highlight>
              </a:rPr>
              <a:t> wells that represent mill creek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00FF00"/>
                </a:highlight>
              </a:rPr>
              <a:t>Check if we have cells that are defined as both wells and drains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767637-0B12-0641-90BF-50FA96A49FE5}"/>
              </a:ext>
            </a:extLst>
          </p:cNvPr>
          <p:cNvSpPr txBox="1"/>
          <p:nvPr/>
        </p:nvSpPr>
        <p:spPr>
          <a:xfrm>
            <a:off x="5447115" y="5865800"/>
            <a:ext cx="334670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highlight>
                  <a:srgbClr val="00FF00"/>
                </a:highlight>
              </a:rPr>
              <a:t>* How can we provide DRN discharge to SWMM for routing, without double counting?</a:t>
            </a:r>
          </a:p>
        </p:txBody>
      </p:sp>
    </p:spTree>
    <p:extLst>
      <p:ext uri="{BB962C8B-B14F-4D97-AF65-F5344CB8AC3E}">
        <p14:creationId xmlns:p14="http://schemas.microsoft.com/office/powerpoint/2010/main" val="41183191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7658-2158-B03B-6E60-A0CF06A87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958B95A-12F2-39CA-E532-06A6425917BA}"/>
              </a:ext>
            </a:extLst>
          </p:cNvPr>
          <p:cNvSpPr/>
          <p:nvPr/>
        </p:nvSpPr>
        <p:spPr>
          <a:xfrm>
            <a:off x="2029968" y="3044952"/>
            <a:ext cx="1709928" cy="148132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5065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4369C7-5AD5-78E5-3DDA-E365A5DE0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Coupling with 1-minute SWMM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2E535C-8E84-A730-AFFB-51CE44A6E87C}"/>
              </a:ext>
            </a:extLst>
          </p:cNvPr>
          <p:cNvSpPr txBox="1"/>
          <p:nvPr/>
        </p:nvSpPr>
        <p:spPr>
          <a:xfrm>
            <a:off x="1466849" y="2085975"/>
            <a:ext cx="820102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VP &amp; company share 2 SWMM simulations with 1-min timesteps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A. Simulates all of 2018 (begins 1/1/2018)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B. </a:t>
            </a:r>
            <a:r>
              <a:rPr lang="en-US" dirty="0">
                <a:highlight>
                  <a:srgbClr val="FFFF00"/>
                </a:highlight>
              </a:rPr>
              <a:t>Simulates Sept-Oct 2018 (2018-09-20 23:49:00) 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This goes against the current assumption that MF &gt; SWMM&gt; </a:t>
            </a:r>
            <a:r>
              <a:rPr lang="en-US" dirty="0" err="1">
                <a:highlight>
                  <a:srgbClr val="FFFF00"/>
                </a:highlight>
              </a:rPr>
              <a:t>Dflow</a:t>
            </a:r>
            <a:endParaRPr lang="en-US" dirty="0">
              <a:highlight>
                <a:srgbClr val="FFFF00"/>
              </a:highlight>
            </a:endParaRP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dirty="0">
                <a:highlight>
                  <a:srgbClr val="FFFF00"/>
                </a:highlight>
              </a:rPr>
              <a:t>I wrote a bunch of logical statements to allow flexibility for which SWMM simulation is used .But I cannot get them perfectly coupled.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46E9F02-F7E5-4B11-EE65-76F526FFD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9591" y="4892653"/>
            <a:ext cx="8238172" cy="1600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23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E9F3F-6D1E-B8D7-74C5-1DA55E1E18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11/14/2025 Notes after this slide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07188-3B27-33E3-A751-4E35A76A12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Mill creek drains are also wells for </a:t>
            </a:r>
            <a:r>
              <a:rPr lang="en-US" dirty="0" err="1"/>
              <a:t>swmm</a:t>
            </a:r>
            <a:r>
              <a:rPr lang="en-US" dirty="0"/>
              <a:t>. What issues can this pose?</a:t>
            </a:r>
          </a:p>
        </p:txBody>
      </p:sp>
    </p:spTree>
    <p:extLst>
      <p:ext uri="{BB962C8B-B14F-4D97-AF65-F5344CB8AC3E}">
        <p14:creationId xmlns:p14="http://schemas.microsoft.com/office/powerpoint/2010/main" val="3971952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2384</TotalTime>
  <Words>460</Words>
  <Application>Microsoft Office PowerPoint</Application>
  <PresentationFormat>Widescreen</PresentationFormat>
  <Paragraphs>60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Email from Mahla about unsaturated flow...       </vt:lpstr>
      <vt:lpstr>PowerPoint Presentation</vt:lpstr>
      <vt:lpstr>PowerPoint Presentation</vt:lpstr>
      <vt:lpstr>MF + D-Flow+ SWMM (daily) Well Observations (flux)        </vt:lpstr>
      <vt:lpstr>Do I need to divide sum by the coupling interval (eg. Divide by 96 for 15min coupling interval)?</vt:lpstr>
      <vt:lpstr>Mill Creek</vt:lpstr>
      <vt:lpstr>PowerPoint Presentation</vt:lpstr>
      <vt:lpstr>Coupling with 1-minute SWMM</vt:lpstr>
      <vt:lpstr>11/14/2025 Notes after this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Bayraktar, Banu N</dc:creator>
  <cp:lastModifiedBy>Bayraktar, Banu N</cp:lastModifiedBy>
  <cp:revision>15</cp:revision>
  <dcterms:created xsi:type="dcterms:W3CDTF">2025-09-15T19:30:14Z</dcterms:created>
  <dcterms:modified xsi:type="dcterms:W3CDTF">2025-11-14T20:58:28Z</dcterms:modified>
</cp:coreProperties>
</file>